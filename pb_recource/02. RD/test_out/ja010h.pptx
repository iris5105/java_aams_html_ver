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
<Relationships xmlns="http://schemas.openxmlformats.org/package/2006/relationships">
   <Relationship Id="rId1"
                 Target="ppt/presentation.xml"
                 Type="http://schemas.openxmlformats.org/officeDocument/2006/relationships/officeDocument"/>
   <Relationship Id="rId2"
                 Target="docProps/thumbnail.jpeg"
                 Type="http://schemas.openxmlformats.org/package/2006/relationships/metadata/thumbnail"/>
   <Relationship Id="rId3"
                 Target="docProps/core.xml"
                 Type="http://schemas.openxmlformats.org/package/2006/relationships/metadata/core-properties"/>
   <Relationship Id="rId4"
                 Target="docProps/app.xml"
                 Type="http://schemas.openxmlformats.org/officeDocument/2006/relationships/extended-properties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0680700" cy="7556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 <Relationship Id="rId1"
                 Target="slideMasters/slideMaster1.xml"
                 Type="http://schemas.openxmlformats.org/officeDocument/2006/relationships/slideMaster"/>
   <Relationship Id="rId2"
                 Target="presProps.xml"
                 Type="http://schemas.openxmlformats.org/officeDocument/2006/relationships/presProps"/>
   <Relationship Id="rId3"
                 Target="viewProps.xml"
                 Type="http://schemas.openxmlformats.org/officeDocument/2006/relationships/viewProps"/>
   <Relationship Id="rId4"
                 Target="theme/theme1.xml"
                 Type="http://schemas.openxmlformats.org/officeDocument/2006/relationships/theme"/>
   <Relationship Id="rId5"
                 Target="tableStyles.xml"
                 Type="http://schemas.openxmlformats.org/officeDocument/2006/relationships/tableStyles"/>
   <Relationship Id="rId6"
                 Target="slides/slide1.xml"
                 Type="http://schemas.openxmlformats.org/officeDocument/2006/relationships/slide"/>
</Relationships>

</file>

<file path=ppt/slideLayouts/_rels/slideLayout1.xml.rels><?xml version="1.0" encoding="UTF-8" standalone="yes"?>
<Relationships xmlns="http://schemas.openxmlformats.org/package/2006/relationships">
   <Relationship Id="rId1"
                 Target="../slideMasters/slideMaster1.xml"
                 Type="http://schemas.openxmlformats.org/officeDocument/2006/relationships/slideMaster"/>
</Relationships>

</file>

<file path=ppt/slideLayouts/_rels/slideLayout2.xml.rels><?xml version="1.0" encoding="UTF-8" standalone="yes"?>
<Relationships xmlns="http://schemas.openxmlformats.org/package/2006/relationships">
   <Relationship Id="rId1"
                 Target="../slideMasters/slideMaster1.xml"
                 Type="http://schemas.openxmlformats.org/officeDocument/2006/relationships/slideMaster"/>
</Relationships>

</file>

<file path=ppt/slideLayouts/_rels/slideLayout3.xml.rels><?xml version="1.0" encoding="UTF-8" standalone="yes"?>
<Relationships xmlns="http://schemas.openxmlformats.org/package/2006/relationships">
   <Relationship Id="rId1"
                 Target="../slideMasters/slideMaster1.xml"
                 Type="http://schemas.openxmlformats.org/officeDocument/2006/relationships/slideMaster"/>
</Relationships>

</file>

<file path=ppt/slideLayouts/_rels/slideLayout4.xml.rels><?xml version="1.0" encoding="UTF-8" standalone="yes"?>
<Relationships xmlns="http://schemas.openxmlformats.org/package/2006/relationships">
   <Relationship Id="rId1"
                 Target="../slideMasters/slideMaster1.xml"
                 Type="http://schemas.openxmlformats.org/officeDocument/2006/relationships/slideMaster"/>
</Relationships>

</file>

<file path=ppt/slideLayouts/_rels/slideLayout5.xml.rels><?xml version="1.0" encoding="UTF-8" standalone="yes"?>
<Relationships xmlns="http://schemas.openxmlformats.org/package/2006/relationships">
   <Relationship Id="rId1"
                 Target="../slideMasters/slideMaster1.xml"
                 Type="http://schemas.openxmlformats.org/officeDocument/2006/relationships/slideMaster"/>
</Relationships>

</file>

<file path=ppt/slideLayouts/_rels/slideLayout6.xml.rels><?xml version="1.0" encoding="UTF-8" standalone="yes"?>
<Relationships xmlns="http://schemas.openxmlformats.org/package/2006/relationships">
   <Relationship Id="rId1"
                 Target="../slideMasters/slideMaster1.xml"
                 Type="http://schemas.openxmlformats.org/officeDocument/2006/relationships/slideMaster"/>
</Relationships>

</file>

<file path=ppt/slideLayouts/_rels/slideLayout7.xml.rels><?xml version="1.0" encoding="UTF-8" standalone="yes"?>
<Relationships xmlns="http://schemas.openxmlformats.org/package/2006/relationships">
   <Relationship Id="rId1"
                 Target="../slideMasters/slideMaster1.xml"
                 Type="http://schemas.openxmlformats.org/officeDocument/2006/relationships/slideMaster"/>
</Relationships>

</file>

<file path=ppt/slideLayouts/_rels/slideLayout8.xml.rels><?xml version="1.0" encoding="UTF-8" standalone="yes"?>
<Relationships xmlns="http://schemas.openxmlformats.org/package/2006/relationships">
   <Relationship Id="rId1"
                 Target="../slideMasters/slideMaster1.xml"
                 Type="http://schemas.openxmlformats.org/officeDocument/2006/relationships/slideMaster"/>
</Relationships>

</file>

<file path=ppt/slideLayouts/_rels/slideLayout9.xml.rels><?xml version="1.0" encoding="UTF-8" standalone="yes"?>
<Relationships xmlns="http://schemas.openxmlformats.org/package/2006/relationships">
   <Relationship Id="rId1"
                 Target="../slideMasters/slideMaster1.xml"
                 Type="http://schemas.openxmlformats.org/officeDocument/2006/relationships/slideMaster"/>
</Relationships>

</file>

<file path=ppt/slideLayouts/_rels/slideLayout10.xml.rels><?xml version="1.0" encoding="UTF-8" standalone="yes"?>
<Relationships xmlns="http://schemas.openxmlformats.org/package/2006/relationships">
   <Relationship Id="rId1"
                 Target="../slideMasters/slideMaster1.xml"
                 Type="http://schemas.openxmlformats.org/officeDocument/2006/relationships/slideMaster"/>
</Relationships>

</file>

<file path=ppt/slideLayouts/_rels/slideLayout11.xml.rels><?xml version="1.0" encoding="UTF-8" standalone="yes"?>
<Relationships xmlns="http://schemas.openxmlformats.org/package/2006/relationships">
   <Relationship Id="rId1"
                 Target="../slideMasters/slideMaster1.xml"
                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<Relationship Id="rId1"
                 Target="../slideLayouts/slideLayout1.xml"
                 Type="http://schemas.openxmlformats.org/officeDocument/2006/relationships/slideLayout"/>
   <Relationship Id="rId10"
                 Target="../slideLayouts/slideLayout10.xml"
                 Type="http://schemas.openxmlformats.org/officeDocument/2006/relationships/slideLayout"/>
   <Relationship Id="rId11"
                 Target="../slideLayouts/slideLayout11.xml"
                 Type="http://schemas.openxmlformats.org/officeDocument/2006/relationships/slideLayout"/>
   <Relationship Id="rId12"
                 Target="../theme/theme1.xml"
                 Type="http://schemas.openxmlformats.org/officeDocument/2006/relationships/theme"/>
   <Relationship Id="rId2"
                 Target="../slideLayouts/slideLayout2.xml"
                 Type="http://schemas.openxmlformats.org/officeDocument/2006/relationships/slideLayout"/>
   <Relationship Id="rId3"
                 Target="../slideLayouts/slideLayout3.xml"
                 Type="http://schemas.openxmlformats.org/officeDocument/2006/relationships/slideLayout"/>
   <Relationship Id="rId4"
                 Target="../slideLayouts/slideLayout4.xml"
                 Type="http://schemas.openxmlformats.org/officeDocument/2006/relationships/slideLayout"/>
   <Relationship Id="rId5"
                 Target="../slideLayouts/slideLayout5.xml"
                 Type="http://schemas.openxmlformats.org/officeDocument/2006/relationships/slideLayout"/>
   <Relationship Id="rId6"
                 Target="../slideLayouts/slideLayout6.xml"
                 Type="http://schemas.openxmlformats.org/officeDocument/2006/relationships/slideLayout"/>
   <Relationship Id="rId7"
                 Target="../slideLayouts/slideLayout7.xml"
                 Type="http://schemas.openxmlformats.org/officeDocument/2006/relationships/slideLayout"/>
   <Relationship Id="rId8"
                 Target="../slideLayouts/slideLayout8.xml"
                 Type="http://schemas.openxmlformats.org/officeDocument/2006/relationships/slideLayout"/>
   <Relationship Id="rId9"
                 Target="../slideLayouts/slideLayout9.xml"
                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<Relationship Id="rId1"
                 Target="../slideLayouts/slideLayout7.xml"
                 Type="http://schemas.openxmlformats.org/officeDocument/2006/relationships/slideLayout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1" id="2"/>
          <p:cNvGraphicFramePr>
            <a:graphicFrameLocks noGrp="true"/>
          </p:cNvGraphicFramePr>
          <p:nvPr/>
        </p:nvGraphicFramePr>
        <p:xfrm>
          <a:off x="355600" y="431800"/>
          <a:ext cx="0" cy="0"/>
        </p:xfrm>
        <a:graphic>
          <a:graphicData uri="http://schemas.openxmlformats.org/drawingml/2006/table">
            <a:tbl>
              <a:tblPr/>
              <a:tblGrid>
                <a:gridCol w="393700"/>
                <a:gridCol w="990600"/>
                <a:gridCol w="1663700"/>
                <a:gridCol w="736600"/>
                <a:gridCol w="444500"/>
                <a:gridCol w="558800"/>
                <a:gridCol w="812800"/>
                <a:gridCol w="241300"/>
                <a:gridCol w="723900"/>
                <a:gridCol w="939800"/>
                <a:gridCol w="723900"/>
                <a:gridCol w="469900"/>
                <a:gridCol w="381000"/>
                <a:gridCol w="444500"/>
                <a:gridCol w="546100"/>
              </a:tblGrid>
              <a:tr h="228600">
                <a:tc gridSpan="15">
                  <a:txBody>
                    <a:bodyPr/>
                    <a:lstStyle/>
                    <a:p>
                      <a:pPr marL="0" algn="ctr">
                        <a:lnSpc>
                          <a:spcPts val="1300"/>
                        </a:lnSpc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맑은 고딕"/>
                        </a:rPr>
                        <a:t>자  산  현  황</a:t>
                      </a:r>
                    </a:p>
                  </a:txBody>
                  <a:tcPr marT="0" marB="0" marL="139700" marR="139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3200">
                <a:tc gridSpan="5">
                  <a:txBody>
                    <a:bodyPr/>
                    <a:lstStyle/>
                    <a:p>
                      <a:pPr marL="0" algn="l">
                        <a:lnSpc>
                          <a:spcPts val="1100"/>
                        </a:lnSpc>
                      </a:pPr>
                      <a:r>
                        <a:rPr lang="en-US" sz="1000" b="true">
                          <a:solidFill>
                            <a:srgbClr val="000000"/>
                          </a:solidFill>
                          <a:latin typeface="맑은 고딕"/>
                        </a:rPr>
                        <a:t>고객명 : 송암물산(2601)</a:t>
                      </a:r>
                    </a:p>
                  </a:txBody>
                  <a:tcPr marT="0" marB="0" marL="139700" marR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( 2026년 06월 08일 )</a:t>
                      </a:r>
                    </a:p>
                  </a:txBody>
                  <a:tcPr marT="0" marB="0" marL="50800" marR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12700" marR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(단위:주,원,%)</a:t>
                      </a:r>
                    </a:p>
                  </a:txBody>
                  <a:tcPr marT="0" marB="0" marL="139700" marR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T="0" marB="0" marL="0" marR="0" anchor="ctr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종목코드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종  목  명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액면(천)</a:t>
                      </a:r>
                    </a:p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     주수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매입금액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종가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평가금액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평가손익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미수이자</a:t>
                      </a:r>
                    </a:p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(미수배당금)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표면</a:t>
                      </a:r>
                    </a:p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이율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상환일자</a:t>
                      </a:r>
                    </a:p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(매도제한일)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수익률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190500">
                <a:tc rowSpan="8"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주식</a:t>
                      </a:r>
                    </a:p>
                  </a:txBody>
                  <a:tcPr marT="0" marB="0" marL="50800" marR="0" anchor="ctr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KR7000660001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에스케이하이닉스보통주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80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138,204,490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1,911,000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152,880,000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14,675,510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10.62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3200">
                <a:tc v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KR7005930003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삼성전자보통주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150,147,340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295,500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147,750,000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-2,397,340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-1.60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 v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KR7012330007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현대모비스보통주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105,104,120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612,000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91,800,000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-13,304,120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-12.66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 v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KR7042660001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한화오션보통주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1,250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153,989,820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103,100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128,875,000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-25,114,820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-16.31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3200">
                <a:tc v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KR7101490001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에스앤에스텍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99,652,430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54,800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54,800,000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-44,852,430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-45.01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 v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KR7179900006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유티아이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39,929,800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16,420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32,840,000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-7,089,800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-17.76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3200">
                <a:tc v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KR7308430008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셀비온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2,500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81,310,170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17,500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43,750,000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-37,560,170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-46.19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 v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KR7493280002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아이엠바이오로직스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118,687,570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24,300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48,600,000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-70,087,570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-59.05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 gridSpan="3"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주식 합계</a:t>
                      </a:r>
                    </a:p>
                  </a:txBody>
                  <a:tcPr marT="0" marB="0" marL="50800" marR="0" anchor="b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9,480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887,025,740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701,295,000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-185,730,740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-20.94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채권</a:t>
                      </a:r>
                    </a:p>
                  </a:txBody>
                  <a:tcPr marT="0" marB="0" marL="50800" marR="0" anchor="ctr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KR6179901G58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유티아이6CB_20260529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200,000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200,000,000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10,000.0000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200,000,000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0.00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2031.05.29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 gridSpan="3"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채권 합계</a:t>
                      </a:r>
                    </a:p>
                  </a:txBody>
                  <a:tcPr marT="0" marB="0" marL="50800" marR="0" anchor="b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200,000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200,000,000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200,000,000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예금</a:t>
                      </a:r>
                    </a:p>
                  </a:txBody>
                  <a:tcPr marT="0" marB="0" marL="50800" marR="0" anchor="ctr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D+2일예수금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155,005,992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현금</a:t>
                      </a:r>
                    </a:p>
                  </a:txBody>
                  <a:tcPr marT="0" marB="0" marL="50800" marR="0" anchor="ctr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20201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주식미지급금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7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255,251,460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7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7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-255,251,460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7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7FA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7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7FA"/>
                    </a:solidFill>
                  </a:tcPr>
                </a:tc>
              </a:tr>
              <a:tr h="190500">
                <a:tc gridSpan="3"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현금 합계</a:t>
                      </a:r>
                    </a:p>
                  </a:txBody>
                  <a:tcPr marT="0" marB="0" marL="50800" marR="0" anchor="b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255,251,460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-255,251,460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예금</a:t>
                      </a:r>
                    </a:p>
                  </a:txBody>
                  <a:tcPr marT="0" marB="0" marL="50800" marR="0" anchor="ctr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예금(0%)</a:t>
                      </a:r>
                    </a:p>
                  </a:txBody>
                  <a:tcPr marT="0" marB="0" marL="5080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410,257,452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410,257,452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0.00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2099.12.31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 gridSpan="3">
                  <a:txBody>
                    <a:bodyPr/>
                    <a:lstStyle/>
                    <a:p>
                      <a:pPr marL="0" algn="ctr">
                        <a:lnSpc>
                          <a:spcPts val="1100"/>
                        </a:lnSpc>
                      </a:pPr>
                      <a:r>
                        <a:rPr lang="en-US" sz="1000" b="true">
                          <a:solidFill>
                            <a:srgbClr val="000000"/>
                          </a:solidFill>
                          <a:latin typeface="맑은 고딕"/>
                        </a:rPr>
                        <a:t>순 자 산 액</a:t>
                      </a:r>
                    </a:p>
                  </a:txBody>
                  <a:tcPr marT="0" marB="0" marL="50800" marR="0" anchor="b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9C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9C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9C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9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r">
                        <a:lnSpc>
                          <a:spcPts val="1000"/>
                        </a:lnSpc>
                      </a:pPr>
                      <a:r>
                        <a:rPr lang="en-US" sz="900" b="true">
                          <a:solidFill>
                            <a:srgbClr val="000000"/>
                          </a:solidFill>
                          <a:latin typeface="맑은 고딕"/>
                        </a:rPr>
                        <a:t>1,056,300,992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9C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9C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9C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508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9C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" id="3"/>
          <p:cNvGraphicFramePr>
            <a:graphicFrameLocks noGrp="true"/>
          </p:cNvGraphicFramePr>
          <p:nvPr/>
        </p:nvGraphicFramePr>
        <p:xfrm>
          <a:off x="762000" y="4406900"/>
          <a:ext cx="0" cy="0"/>
        </p:xfrm>
        <a:graphic>
          <a:graphicData uri="http://schemas.openxmlformats.org/drawingml/2006/table">
            <a:tbl>
              <a:tblPr/>
              <a:tblGrid>
                <a:gridCol w="889000"/>
                <a:gridCol w="1003300"/>
                <a:gridCol w="1003300"/>
                <a:gridCol w="965200"/>
              </a:tblGrid>
              <a:tr h="279400">
                <a:tc>
                  <a:txBody>
                    <a:bodyPr/>
                    <a:lstStyle/>
                    <a:p>
                      <a:pPr marL="0" algn="ctr">
                        <a:lnSpc>
                          <a:spcPts val="13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당기손익액</a:t>
                      </a:r>
                    </a:p>
                  </a:txBody>
                  <a:tcPr marT="0" marB="0" marL="0" marR="0" anchor="ctr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400"/>
                        </a:lnSpc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맑은 고딕"/>
                        </a:rPr>
                        <a:t>56,300,992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3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수  익  률</a:t>
                      </a:r>
                    </a:p>
                  </a:txBody>
                  <a:tcPr marT="0" marB="0" marL="0" marR="0" anchor="ctr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400"/>
                        </a:lnSpc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맑은 고딕"/>
                        </a:rPr>
                        <a:t>5.63 %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F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algn="ctr">
                        <a:lnSpc>
                          <a:spcPts val="13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계약액 연평잔</a:t>
                      </a:r>
                    </a:p>
                  </a:txBody>
                  <a:tcPr marT="0" marB="0" marL="0" marR="0" anchor="ctr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400"/>
                        </a:lnSpc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맑은 고딕"/>
                        </a:rPr>
                        <a:t>1,000,000,000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3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평잔수익률</a:t>
                      </a:r>
                    </a:p>
                  </a:txBody>
                  <a:tcPr marT="0" marB="0" marL="0" marR="0" anchor="ctr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400"/>
                        </a:lnSpc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맑은 고딕"/>
                        </a:rPr>
                        <a:t>5.63 %</a:t>
                      </a:r>
                    </a:p>
                  </a:txBody>
                  <a:tcPr marT="0" marB="0" marL="0" marR="0" anchor="ctr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4"/>
          <p:cNvGraphicFramePr>
            <a:graphicFrameLocks noGrp="true"/>
          </p:cNvGraphicFramePr>
          <p:nvPr/>
        </p:nvGraphicFramePr>
        <p:xfrm>
          <a:off x="5384800" y="4406900"/>
          <a:ext cx="0" cy="0"/>
        </p:xfrm>
        <a:graphic>
          <a:graphicData uri="http://schemas.openxmlformats.org/drawingml/2006/table">
            <a:tbl>
              <a:tblPr/>
              <a:tblGrid>
                <a:gridCol w="901700"/>
                <a:gridCol w="990600"/>
                <a:gridCol w="1003300"/>
                <a:gridCol w="977900"/>
                <a:gridCol w="622300"/>
              </a:tblGrid>
              <a:tr h="177800">
                <a:tc>
                  <a:txBody>
                    <a:bodyPr/>
                    <a:lstStyle/>
                    <a:p>
                      <a:pPr marL="0" algn="ctr">
                        <a:lnSpc>
                          <a:spcPts val="13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입출금일자</a:t>
                      </a:r>
                    </a:p>
                  </a:txBody>
                  <a:tcPr marT="0" marB="0" marL="0" marR="0" anchor="b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300"/>
                        </a:lnSpc>
                      </a:pPr>
                      <a:r>
                        <a:rPr lang="en-US" sz="900">
                          <a:solidFill>
                            <a:srgbClr val="FF0000"/>
                          </a:solidFill>
                          <a:latin typeface="맑은 고딕"/>
                        </a:rPr>
                        <a:t>입금액</a:t>
                      </a:r>
                    </a:p>
                  </a:txBody>
                  <a:tcPr marT="0" marB="0" marL="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300"/>
                        </a:lnSpc>
                      </a:pPr>
                      <a:r>
                        <a:rPr lang="en-US" sz="900">
                          <a:solidFill>
                            <a:srgbClr val="0000FF"/>
                          </a:solidFill>
                          <a:latin typeface="맑은 고딕"/>
                        </a:rPr>
                        <a:t>출금액</a:t>
                      </a:r>
                    </a:p>
                  </a:txBody>
                  <a:tcPr marT="0" marB="0" marL="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3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계약잔액</a:t>
                      </a:r>
                    </a:p>
                  </a:txBody>
                  <a:tcPr marT="0" marB="0" marL="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3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경과일수</a:t>
                      </a:r>
                    </a:p>
                  </a:txBody>
                  <a:tcPr marT="0" marB="0" marL="0" marR="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algn="ctr">
                        <a:lnSpc>
                          <a:spcPts val="13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2026.03.31</a:t>
                      </a:r>
                    </a:p>
                  </a:txBody>
                  <a:tcPr marT="0" marB="0" marL="0" marR="0" anchor="b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1397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"/>
                        <a:t> </a:t>
                      </a:r>
                    </a:p>
                  </a:txBody>
                  <a:tcPr marT="0" marB="0" marL="0" marR="1397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>
                        <a:lnSpc>
                          <a:spcPts val="13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1,000,000,000</a:t>
                      </a:r>
                    </a:p>
                  </a:txBody>
                  <a:tcPr marT="0" marB="0" marL="0" marR="1397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1000"/>
                        </a:lnSpc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맑은 고딕"/>
                        </a:rPr>
                        <a:t>70</a:t>
                      </a:r>
                    </a:p>
                  </a:txBody>
                  <a:tcPr marT="0" marB="0" marL="0" marR="139700" anchor="b">
                    <a:lnL w="635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